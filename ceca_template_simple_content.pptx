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37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8AE64F0-AA09-4D54-81F9-245CEF968633}">
          <p14:sldIdLst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 哲" initials="周" lastIdx="0" clrIdx="0">
    <p:extLst>
      <p:ext uri="{19B8F6BF-5375-455C-9EA6-DF929625EA0E}">
        <p15:presenceInfo xmlns:p15="http://schemas.microsoft.com/office/powerpoint/2012/main" userId="1033d0410114c1c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80352" autoAdjust="0"/>
  </p:normalViewPr>
  <p:slideViewPr>
    <p:cSldViewPr snapToGrid="0">
      <p:cViewPr varScale="1">
        <p:scale>
          <a:sx n="132" d="100"/>
          <a:sy n="132" d="100"/>
        </p:scale>
        <p:origin x="524" y="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5AD5C-FDB6-4A86-89A0-58BA87C51EFA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C2178-2536-433F-B076-6694F39FFA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88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C2178-2536-433F-B076-6694F39FFA3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720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3" y="506300"/>
            <a:ext cx="6632293" cy="6277448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8171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9" name="矩形 8"/>
          <p:cNvSpPr/>
          <p:nvPr/>
        </p:nvSpPr>
        <p:spPr>
          <a:xfrm>
            <a:off x="0" y="2139700"/>
            <a:ext cx="12192000" cy="2578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031067" y="3429000"/>
            <a:ext cx="916093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2712709" y="2690840"/>
            <a:ext cx="9484319" cy="738160"/>
          </a:xfrm>
        </p:spPr>
        <p:txBody>
          <a:bodyPr/>
          <a:lstStyle>
            <a:lvl1pPr marL="0" algn="r" defTabSz="914400" rtl="0" eaLnBrk="1" latinLnBrk="0" hangingPunct="1">
              <a:defRPr lang="zh-CN" altLang="en-US" sz="4000" b="1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662627" y="3429000"/>
            <a:ext cx="8534400" cy="432048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zh-CN" altLang="en-US" sz="180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English Title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/>
        </p:nvCxnSpPr>
        <p:spPr>
          <a:xfrm>
            <a:off x="3036094" y="3429000"/>
            <a:ext cx="916093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7440150" y="4005064"/>
            <a:ext cx="1921933" cy="432048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导师</a:t>
            </a:r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10275094" y="4005064"/>
            <a:ext cx="1921933" cy="432048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报告人</a:t>
            </a:r>
          </a:p>
        </p:txBody>
      </p:sp>
      <p:sp>
        <p:nvSpPr>
          <p:cNvPr id="31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3983765" y="5445224"/>
            <a:ext cx="4220435" cy="72008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None/>
              <a:defRPr lang="zh-CN" altLang="en-US" sz="1800" kern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北京大学信息科学技术学院</a:t>
            </a:r>
          </a:p>
        </p:txBody>
      </p:sp>
    </p:spTree>
    <p:extLst>
      <p:ext uri="{BB962C8B-B14F-4D97-AF65-F5344CB8AC3E}">
        <p14:creationId xmlns:p14="http://schemas.microsoft.com/office/powerpoint/2010/main" val="22848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1696F88C-1849-4784-81FC-D82C65149E9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623393" y="260648"/>
            <a:ext cx="888092" cy="664458"/>
            <a:chOff x="611187" y="261275"/>
            <a:chExt cx="666069" cy="664458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rgbClr val="0070C0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107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占位符 2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916833"/>
            <a:ext cx="5423925" cy="2945507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buNone/>
              <a:defRPr lang="zh-CN" altLang="en-US" sz="19900" b="1" kern="1200" dirty="0">
                <a:solidFill>
                  <a:srgbClr val="0070C0"/>
                </a:solidFill>
                <a:latin typeface="微软雅黑" panose="020B0503020204020204" pitchFamily="34" charset="-122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4882" y="2859014"/>
            <a:ext cx="6036269" cy="569987"/>
          </a:xfrm>
        </p:spPr>
        <p:txBody>
          <a:bodyPr anchor="t"/>
          <a:lstStyle>
            <a:lvl1pPr algn="l">
              <a:defRPr sz="28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54882" y="3429001"/>
            <a:ext cx="6178860" cy="40632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182883" y="3375000"/>
            <a:ext cx="6217920" cy="108000"/>
            <a:chOff x="3649980" y="3375660"/>
            <a:chExt cx="4663440" cy="108000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7" name="椭圆 16"/>
            <p:cNvSpPr>
              <a:spLocks/>
            </p:cNvSpPr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椭圆 17"/>
            <p:cNvSpPr>
              <a:spLocks/>
            </p:cNvSpPr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527381" y="2996953"/>
            <a:ext cx="4378067" cy="805507"/>
          </a:xfrm>
          <a:solidFill>
            <a:srgbClr val="FFFFFF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zh-CN" altLang="en-US" sz="3600" b="1" kern="12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783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980729"/>
            <a:ext cx="5384800" cy="51454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0729"/>
            <a:ext cx="5384800" cy="51454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23393" y="260648"/>
            <a:ext cx="888092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rgbClr val="0070C0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960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392" y="105273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1700809"/>
            <a:ext cx="5386917" cy="44253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012" y="105273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1700809"/>
            <a:ext cx="5389033" cy="44253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23393" y="260648"/>
            <a:ext cx="888092" cy="664458"/>
            <a:chOff x="611187" y="261275"/>
            <a:chExt cx="666069" cy="664458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rgbClr val="0070C0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713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23393" y="260648"/>
            <a:ext cx="888092" cy="664458"/>
            <a:chOff x="611187" y="261275"/>
            <a:chExt cx="666069" cy="664458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rgbClr val="0070C0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338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13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26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73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623393" y="260648"/>
            <a:ext cx="888092" cy="664458"/>
            <a:chOff x="611187" y="261275"/>
            <a:chExt cx="666069" cy="664458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rgbClr val="0070C0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22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38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940"/>
            <a:ext cx="9144000" cy="662420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3175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98319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46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892766" y="260648"/>
            <a:ext cx="9484319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052737"/>
            <a:ext cx="109728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24417" y="6309321"/>
            <a:ext cx="53755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67584" y="6492876"/>
            <a:ext cx="624416" cy="36512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</a:defRPr>
            </a:lvl1pPr>
          </a:lstStyle>
          <a:p>
            <a:fld id="{1696F88C-1849-4784-81FC-D82C65149E9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8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6" r:id="rId13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p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–"/>
        <a:defRPr sz="2000" kern="1200">
          <a:solidFill>
            <a:srgbClr val="00549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rgbClr val="0070C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t7_f7_performance.png"/><Relationship Id="rId4" Type="http://schemas.openxmlformats.org/officeDocument/2006/relationships/image" Target="../media/t7_f7_pp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0000" y="275000"/>
            <a:ext cx="9800000" cy="650000"/>
          </a:xfrm>
        </p:spPr>
        <p:txBody>
          <a:bodyPr wrap="square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17324D"/>
                </a:solidFill>
                <a:latin typeface="Noto Sans CJK SC"/>
                <a:ea typeface="Noto Sans CJK SC"/>
              </a:rPr>
              <a:t>F7 用近似 T7 的硬件预算实现 2.05 倍性能</a:t>
            </a:r>
            <a:endParaRPr lang="zh-CN" sz="3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0000" y="980000"/>
            <a:ext cx="11150000" cy="1650000"/>
          </a:xfrm>
        </p:spPr>
        <p:txBody>
          <a:bodyPr wrap="square" lIns="0" rIns="0" tIns="0" bIns="0" anchor="t">
            <a:normAutofit/>
          </a:bodyPr>
          <a:lstStyle/>
          <a:p>
            <a:pPr marL="0" indent="0">
              <a:spcAft>
                <a:spcPts val="650"/>
              </a:spcAft>
              <a:buNone/>
            </a:pPr>
            <a:r>
              <a:rPr lang="zh-CN" altLang="en-US" sz="1750" b="1">
                <a:solidFill>
                  <a:srgbClr val="0070C0"/>
                </a:solidFill>
                <a:latin typeface="Noto Sans CJK SC"/>
                <a:ea typeface="Noto Sans CJK SC"/>
              </a:rPr>
              <a:t>①  </a:t>
            </a:r>
            <a:r>
              <a:rPr lang="zh-CN" altLang="en-US" sz="1700" b="1">
                <a:solidFill>
                  <a:srgbClr val="25364A"/>
                </a:solidFill>
                <a:latin typeface="Noto Sans CJK SC"/>
                <a:ea typeface="Noto Sans CJK SC"/>
              </a:rPr>
              <a:t>仿真器校准：</a:t>
            </a:r>
            <a:r>
              <a:rPr lang="zh-CN" altLang="en-US" sz="1700">
                <a:solidFill>
                  <a:srgbClr val="25364A"/>
                </a:solidFill>
                <a:latin typeface="Noto Sans CJK SC"/>
                <a:ea typeface="Noto Sans CJK SC"/>
              </a:rPr>
              <a:t>gem5 中的 FlashAttention 模型已针对 H100 单流处理器结果完成校准。</a:t>
            </a:r>
            <a:endParaRPr lang="zh-CN" sz="1700"/>
          </a:p>
          <a:p>
            <a:pPr marL="0" indent="0">
              <a:spcAft>
                <a:spcPts val="650"/>
              </a:spcAft>
              <a:buNone/>
            </a:pPr>
            <a:r>
              <a:rPr lang="zh-CN" altLang="en-US" sz="1750" b="1">
                <a:solidFill>
                  <a:srgbClr val="169C9C"/>
                </a:solidFill>
                <a:latin typeface="Noto Sans CJK SC"/>
                <a:ea typeface="Noto Sans CJK SC"/>
              </a:rPr>
              <a:t>②  </a:t>
            </a:r>
            <a:r>
              <a:rPr lang="zh-CN" altLang="en-US" sz="1700" b="1">
                <a:solidFill>
                  <a:srgbClr val="25364A"/>
                </a:solidFill>
                <a:latin typeface="Noto Sans CJK SC"/>
                <a:ea typeface="Noto Sans CJK SC"/>
              </a:rPr>
              <a:t>只比较硬件架构：</a:t>
            </a:r>
            <a:r>
              <a:rPr lang="zh-CN" altLang="en-US" sz="1700">
                <a:solidFill>
                  <a:srgbClr val="25364A"/>
                </a:solidFill>
                <a:latin typeface="Noto Sans CJK SC"/>
                <a:ea typeface="Noto Sans CJK SC"/>
              </a:rPr>
              <a:t>F7 相比 T7 功耗降低 46.0%，面积降低 39.4%。</a:t>
            </a:r>
            <a:endParaRPr lang="zh-CN" sz="1700"/>
          </a:p>
          <a:p>
            <a:pPr marL="0" indent="0">
              <a:spcAft>
                <a:spcPts val="650"/>
              </a:spcAft>
              <a:buNone/>
            </a:pPr>
            <a:r>
              <a:rPr lang="zh-CN" altLang="en-US" sz="1750" b="1">
                <a:solidFill>
                  <a:srgbClr val="F28C28"/>
                </a:solidFill>
                <a:latin typeface="Noto Sans CJK SC"/>
                <a:ea typeface="Noto Sans CJK SC"/>
              </a:rPr>
              <a:t>③  </a:t>
            </a:r>
            <a:r>
              <a:rPr lang="zh-CN" altLang="en-US" sz="1700" b="1">
                <a:solidFill>
                  <a:srgbClr val="25364A"/>
                </a:solidFill>
                <a:latin typeface="Noto Sans CJK SC"/>
                <a:ea typeface="Noto Sans CJK SC"/>
              </a:rPr>
              <a:t>复用节省的硬件预算：</a:t>
            </a:r>
            <a:r>
              <a:rPr lang="zh-CN" altLang="en-US" sz="1700">
                <a:solidFill>
                  <a:srgbClr val="25364A"/>
                </a:solidFill>
                <a:latin typeface="Noto Sans CJK SC"/>
                <a:ea typeface="Noto Sans CJK SC"/>
              </a:rPr>
              <a:t>双缓冲加 2 倍向量算力，使性能达到 2.05 倍，功耗约 0.99 倍、面积约 1.05 倍。</a:t>
            </a:r>
            <a:endParaRPr lang="zh-CN" sz="1700"/>
          </a:p>
        </p:txBody>
      </p:sp>
      <p:pic>
        <p:nvPicPr>
          <p:cNvPr id="5" name="性能柱状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2700000"/>
            <a:ext cx="5400000" cy="3056000"/>
          </a:xfrm>
          <a:prstGeom prst="rect">
            <a:avLst/>
          </a:prstGeom>
          <a:ln>
            <a:noFill/>
          </a:ln>
        </p:spPr>
      </p:pic>
      <p:pic>
        <p:nvPicPr>
          <p:cNvPr id="6" name="面积与功耗柱状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00" y="2700000"/>
            <a:ext cx="5400000" cy="3056000"/>
          </a:xfrm>
          <a:prstGeom prst="rect">
            <a:avLst/>
          </a:prstGeom>
          <a:ln>
            <a:noFill/>
          </a:ln>
        </p:spPr>
      </p:pic>
      <p:sp>
        <p:nvSpPr>
          <p:cNvPr id="7" name="优化方案脚注"/>
          <p:cNvSpPr/>
          <p:nvPr/>
        </p:nvSpPr>
        <p:spPr>
          <a:xfrm>
            <a:off x="600000" y="5860000"/>
            <a:ext cx="10800000" cy="670000"/>
          </a:xfrm>
          <a:noFill/>
          <a:ln>
            <a:noFill/>
          </a:ln>
        </p:spPr>
        <p:txBody>
          <a:bodyPr lIns="0" rIns="0" tIns="0" bIns="0"/>
          <a:lstStyle/>
          <a:p>
            <a:pPr marL="0" indent="0">
              <a:buNone/>
            </a:pPr>
            <a:r>
              <a:rPr lang="zh-CN" altLang="en-US" sz="1150">
                <a:solidFill>
                  <a:srgbClr val="64748B"/>
                </a:solidFill>
                <a:latin typeface="Noto Sans CJK SC"/>
                <a:ea typeface="Noto Sans CJK SC"/>
              </a:rPr>
              <a:t>注：F7-opt1 为 64 个存储体的双缓冲，片上存储总容量翻倍。</a:t>
            </a:r>
            <a:endParaRPr lang="zh-CN" sz="1150"/>
          </a:p>
          <a:p>
            <a:pPr marL="0" indent="0">
              <a:buNone/>
            </a:pPr>
            <a:r>
              <a:rPr lang="zh-CN" altLang="en-US" sz="1150">
                <a:solidFill>
                  <a:srgbClr val="64748B"/>
                </a:solidFill>
                <a:latin typeface="Noto Sans CJK SC"/>
                <a:ea typeface="Noto Sans CJK SC"/>
              </a:rPr>
              <a:t>F7-opt2 在 opt1 基础上将向量算力翻倍；96 个逻辑存储体由 64 个物理存储宏切分，总容量不变。</a:t>
            </a:r>
            <a:endParaRPr lang="zh-CN" sz="115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F88C-1849-4784-81FC-D82C65149E98}" type="slidenum">
              <a:rPr lang="zh-CN"/>
              <a:pPr/>
              <a:t>1</a:t>
            </a:fld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CA_n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CA_new" id="{85EB6AC2-C60D-42FB-BEBF-E4EB13083569}" vid="{AABA3A3A-C3AA-40F6-A4A9-16245B6E989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CECA_new</Template>
  <TotalTime>51469</TotalTime>
  <Words>4</Words>
  <Application>Microsoft Office PowerPoint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Times New Roman</vt:lpstr>
      <vt:lpstr>Wingdings</vt:lpstr>
      <vt:lpstr>CECA_new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Xiaoyang</dc:creator>
  <cp:lastModifiedBy>薛晨皓</cp:lastModifiedBy>
  <cp:revision>1555</cp:revision>
  <dcterms:created xsi:type="dcterms:W3CDTF">2018-08-13T03:55:13Z</dcterms:created>
  <dcterms:modified xsi:type="dcterms:W3CDTF">2026-08-05T01:45:43Z</dcterms:modified>
</cp:coreProperties>
</file>